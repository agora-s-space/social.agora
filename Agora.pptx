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28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85593" autoAdjust="0"/>
  </p:normalViewPr>
  <p:slideViewPr>
    <p:cSldViewPr snapToGrid="0">
      <p:cViewPr>
        <p:scale>
          <a:sx n="100" d="100"/>
          <a:sy n="100" d="100"/>
        </p:scale>
        <p:origin x="264" y="-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C8363-7F31-4239-857F-80493CF8BB02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8DCDE-36FD-46BE-BAC9-CD58D15218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8404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8DCDE-36FD-46BE-BAC9-CD58D1521843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1205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Público de nicho não priorizado em redes convencionais. Feed Cronológico, Desktop e Leve. - Escopo MVP com 26 itens, escopo completo trás mais 17 itens. Ambicioso, porém possível com planejamento. – Público: programadores, RPG de mesa, leitores, gamers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8DCDE-36FD-46BE-BAC9-CD58D1521843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901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Sem credenciais e sessão, não há feed. Esse ponto é crítico por causa de: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segurança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validade do token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bloqueio por tentativas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persistência do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refresh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token em desktop</a:t>
            </a:r>
          </a:p>
          <a:p>
            <a:pPr lvl="0"/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dirty="0"/>
              <a:t>ADR-008: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DPAPI (escopo 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CurrentUser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para o 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refresh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token →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blob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criptografado em %LOCALAPPDATA%\Agora\secrets.dat. O 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token fica somente em memória (nunca persistido).</a:t>
            </a:r>
            <a:endParaRPr lang="pt-BR" b="0" dirty="0"/>
          </a:p>
          <a:p>
            <a:r>
              <a:rPr lang="pt-BR" dirty="0"/>
              <a:t>ADR-005 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 (ASP.NET Core Web API) + autenticação JWT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Bearer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pt-BR" b="0" dirty="0"/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RNF-01 : Tempo de carregamento do feed (primeira página) ≤ 2 s (P95)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UC-05 : Visualizar feed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ADR-001 Stack Tecnológica :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Avalonia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UI + .NET 10 (LTS), com padrão MVVM (</a:t>
            </a:r>
            <a:r>
              <a:rPr lang="pt-BR" dirty="0"/>
              <a:t>Model-</a:t>
            </a:r>
            <a:r>
              <a:rPr lang="pt-BR" dirty="0" err="1"/>
              <a:t>View</a:t>
            </a:r>
            <a:r>
              <a:rPr lang="pt-BR" dirty="0"/>
              <a:t>-</a:t>
            </a:r>
            <a:r>
              <a:rPr lang="pt-BR" dirty="0" err="1"/>
              <a:t>ViewModel</a:t>
            </a:r>
            <a:r>
              <a:rPr lang="pt-BR" dirty="0"/>
              <a:t>)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CommunityToolkit.Mvvm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8.4.x).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RF-004 : O usuário autenticado pode publicar posts com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markdown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(negrito, listas, código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inline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blocos de código com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syntax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highlighting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ver RF-022)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RF-022 : O sistema deve renderizar blocos de código com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syntax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highlighting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detectando a linguagem a partir da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fence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markdown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```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csharp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RF-016 : O usuário pode adicionar 1–5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conteúdo ao post (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csharp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dnd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fantasia)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8DCDE-36FD-46BE-BAC9-CD58D1521843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5321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CE7B3-E49F-4F57-D3E3-845BFA2D2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8EC1F21-BF18-6A77-B0E4-B8F61D50F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757F353-FC48-1A6E-A54B-7091B07FA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Performance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RNF-01: tempo de carregamento do feed ≤ 2 s (P95)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RNF-02: inicialização do app ≤ 3 s em HDD comum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RNF-03: ações com feedback visual ≤ 200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RNF-17: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syntax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highlighting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≤ 100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blocos até 50 linhas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RNF-25: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throughput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servidor ≥ 50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/s sustentados sem degradar RNF-01 e RNF-03</a:t>
            </a:r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Segurança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RNF-06: senhas armazenadas com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adaptativo (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bcrypt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/PBKDF2/Argon2), mínimo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bcrypt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≥ 10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RNF-07: comunicação cliente-servidor sempre via TLS 1.2+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RNF-08: proteção contra força bruta com bloqueio após 5 tentativas falhas por ≥ 15 min</a:t>
            </a:r>
          </a:p>
          <a:p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Privacidade / conformidade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RNF-09: consentimento, exportação e exclusão de dados em até 15 dias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RNF-26: alinhamento com GDPR/ LGPD, registro de consentimento, retenção e anonimização em até 30 dias, notificação de violação em até 72h</a:t>
            </a:r>
          </a:p>
          <a:p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Usabilidade / acessibilidade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RNF-04: navegação completa via teclado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RNF-05: contraste mínimo WCAG AA, suporte a tema claro/escuro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RNF-18: animações e transições com 60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splash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 até 3s</a:t>
            </a:r>
          </a:p>
          <a:p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Portabilidade / compatibilidade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RNF-10: Windows 10+ como alvo primário, sem bloquear Linux/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macOS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futuros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RNF-11: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runtime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.NET 10 LTS, suporte até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nov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/2028</a:t>
            </a:r>
          </a:p>
          <a:p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Manutenibilidade / qualidade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RNF-12: arquitetura em camadas sem violação de dependência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RNF-13: cobertura de testes ≥ 60% no núcleo de domínio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RNF-14: CI executando build + testes em cada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meta ≤ 10 min</a:t>
            </a:r>
          </a:p>
          <a:p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Confiabilidade / operação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RNF-15: falha de rede não perde rascunho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RNF-16: logs estruturados sem dados sensíveis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RNF-21: backup diário e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restore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testado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RNF-22: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observabilidade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 logs, métricas,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alertas (ADR-006 com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Serilog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.NET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Metrics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Prometheus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Grafana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RNF-23: empacotamento do app em MSIX, padrão Microsoft Store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RNF-24: SLA de produção ≥ 99,5% ao mês (arredondado pra cima, dá umas 3 h de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downtime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lvl="0"/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Mencionar documento de SLA de Disponibilidade.</a:t>
            </a:r>
          </a:p>
          <a:p>
            <a:pPr lvl="0"/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D77362-C719-8180-4E4B-DC937EF99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8DCDE-36FD-46BE-BAC9-CD58D1521843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8058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87798-5B20-1088-A62A-CA14139A9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EEE7B5D-8023-A9ED-0A04-AF86E044D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7DEE74A-EE3D-F727-9F70-13CD5489A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Diagrama Entidade-Relacionamento do MVP, o final é maior. </a:t>
            </a:r>
          </a:p>
          <a:p>
            <a:r>
              <a:rPr lang="pt-BR" dirty="0"/>
              <a:t>Citar índice de usuário através de </a:t>
            </a:r>
            <a:r>
              <a:rPr lang="pt-BR" dirty="0" err="1"/>
              <a:t>email</a:t>
            </a:r>
            <a:r>
              <a:rPr lang="pt-BR" dirty="0"/>
              <a:t> e @apelido.</a:t>
            </a:r>
          </a:p>
          <a:p>
            <a:r>
              <a:rPr lang="pt-BR" dirty="0"/>
              <a:t>Citar tabela LGPD “consentimento”</a:t>
            </a:r>
            <a:br>
              <a:rPr lang="pt-BR" dirty="0"/>
            </a:br>
            <a:r>
              <a:rPr lang="pt-BR" dirty="0"/>
              <a:t>Lista de entidades:</a:t>
            </a:r>
            <a:br>
              <a:rPr lang="pt-BR" dirty="0"/>
            </a:br>
            <a:r>
              <a:rPr lang="pt-BR" dirty="0"/>
              <a:t>USUÁRIO</a:t>
            </a:r>
          </a:p>
          <a:p>
            <a:r>
              <a:rPr lang="pt-BR" dirty="0"/>
              <a:t>CONSENTIMENTO</a:t>
            </a:r>
          </a:p>
          <a:p>
            <a:r>
              <a:rPr lang="pt-BR" dirty="0"/>
              <a:t>COMENTÁRIO</a:t>
            </a:r>
          </a:p>
          <a:p>
            <a:r>
              <a:rPr lang="pt-BR" dirty="0"/>
              <a:t>SEGUIDA</a:t>
            </a:r>
          </a:p>
          <a:p>
            <a:r>
              <a:rPr lang="pt-BR" dirty="0"/>
              <a:t>PERFIL</a:t>
            </a:r>
          </a:p>
          <a:p>
            <a:r>
              <a:rPr lang="pt-BR" dirty="0"/>
              <a:t>POST</a:t>
            </a:r>
          </a:p>
          <a:p>
            <a:r>
              <a:rPr lang="pt-BR" dirty="0"/>
              <a:t>CURTIDA</a:t>
            </a:r>
          </a:p>
          <a:p>
            <a:r>
              <a:rPr lang="pt-BR" dirty="0"/>
              <a:t>POST_TAG</a:t>
            </a:r>
          </a:p>
          <a:p>
            <a:r>
              <a:rPr lang="pt-BR" dirty="0"/>
              <a:t>TAG</a:t>
            </a:r>
          </a:p>
          <a:p>
            <a:endParaRPr lang="pt-BR" dirty="0"/>
          </a:p>
          <a:p>
            <a:r>
              <a:rPr lang="pt-BR" dirty="0" err="1"/>
              <a:t>Ex</a:t>
            </a:r>
            <a:r>
              <a:rPr lang="pt-BR" dirty="0"/>
              <a:t> de modelo conceitual:</a:t>
            </a:r>
          </a:p>
          <a:p>
            <a:r>
              <a:rPr lang="pt-BR" dirty="0"/>
              <a:t>USUÁRIO - possui POSTS - segue USUÁRIOS - pode CURTIR POSTS </a:t>
            </a:r>
          </a:p>
          <a:p>
            <a:r>
              <a:rPr lang="pt-BR" dirty="0"/>
              <a:t>POST - pertence a um USUÁRIO - possui COMENTÁRIOS </a:t>
            </a:r>
          </a:p>
          <a:p>
            <a:r>
              <a:rPr lang="pt-BR" dirty="0"/>
              <a:t>COMENTÁRIO - pertence a um POST - pertence a um USUÁRIO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518073-5230-F20F-4B67-FED0D6C9C4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8DCDE-36FD-46BE-BAC9-CD58D1521843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231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AD1B5-CD22-F6D0-40B6-95593C3AE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EFD48A7-8580-459A-17E6-12F4CC18B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43065BD-B3C5-A3BE-223A-EB40E5F18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Considerando o tempo curto, só explique que o modelo é extenso e detalhes estão no link, explique as regras de negócio.</a:t>
            </a:r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RN-01: somente o autor pode editar ou excluir o próprio post/comentário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RN-02: cada usuário pode curtir um post no máximo uma vez; curtir novamente remove a curtida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RN-03: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email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@apelido são únicos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RN-04: exclusão de conta provoca anonimização em até 30 dias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RN-05: um usuário não pode seguir a si mesmo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RN-06: posts têm limite de 5.000 caracteres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RN-07: o feed é cronológico e sem algoritmo de promoção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RN-08: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têm nomes únicos e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slug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auto-gerado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RN-09: máximo de 5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 post</a:t>
            </a:r>
          </a:p>
          <a:p>
            <a:pPr lvl="0"/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 regras de negócio citadas das 12.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E90D25-DD1B-B888-C186-0089AB2C3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8DCDE-36FD-46BE-BAC9-CD58D1521843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9474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D299C-B2AE-2446-A0FF-ED08F7222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0D729A7-A9A3-4EDB-EB77-7EA6F4A16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373AD9F-E779-D740-2A10-E3CA9F5B1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Repositório GitHub centralizado para o projeto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 principal: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protegida e sem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direto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Fluxo de trabalho: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branches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curtas por tarefa</a:t>
            </a:r>
          </a:p>
          <a:p>
            <a:pPr lvl="1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feat/...</a:t>
            </a:r>
          </a:p>
          <a:p>
            <a:pPr lvl="1"/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/...</a:t>
            </a:r>
          </a:p>
          <a:p>
            <a:pPr lvl="1"/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/...</a:t>
            </a:r>
          </a:p>
          <a:p>
            <a:pPr lvl="1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chore/...</a:t>
            </a:r>
          </a:p>
          <a:p>
            <a:pPr lvl="0"/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obrigatórios para integração em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review com pelo menos 1 aprovação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 obrigatório antes do merge:</a:t>
            </a:r>
          </a:p>
          <a:p>
            <a:pPr lvl="1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</a:p>
          <a:p>
            <a:pPr lvl="1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testes</a:t>
            </a:r>
          </a:p>
          <a:p>
            <a:pPr lvl="1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validação de qualidade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Regra de merge:</a:t>
            </a:r>
          </a:p>
          <a:p>
            <a:pPr lvl="1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aprovado</a:t>
            </a:r>
          </a:p>
          <a:p>
            <a:pPr lvl="1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 verde</a:t>
            </a:r>
          </a:p>
          <a:p>
            <a:pPr lvl="1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 conflitos</a:t>
            </a:r>
          </a:p>
          <a:p>
            <a:pPr lvl="1"/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padronizado</a:t>
            </a:r>
          </a:p>
          <a:p>
            <a:pPr lvl="1"/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e automação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 Core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Migrations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servidor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Flow simplificado</a:t>
            </a:r>
          </a:p>
          <a:p>
            <a:pPr lvl="1"/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79FD5B-01C3-F4C8-ED74-36BB22956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8DCDE-36FD-46BE-BAC9-CD58D1521843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8395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33A2C-57C2-B767-0E82-B07BB6295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D3EDA41-128B-A6B4-17A4-01905A7A4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8D3AE8F-36A2-91C3-369D-F6867E91C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Testes de unidade focados em regras de domínio e validações de negócio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Testes de integração para API, banco de dados, autenticação e persistência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Testes de interface do cliente para os fluxos críticos: login, feed, publicação e interação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Testes de regressão em cada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via pipeline automatizado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Testes de desempenho em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consultas críticas, com foco em feed, busca e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timeline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Validação de segurança na camada de autenticação, sessão, senhas e dados sensíveis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Monitoramento com logs estruturados,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métricas operacionais (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Serilog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Health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MVP,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Prometheus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Grafana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depois)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Critério de aceite: sem regressão funcional, sem falhas de segurança e sem degradação de desempenho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26E5C2-61AE-6E6B-77A0-81CD342CB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8DCDE-36FD-46BE-BAC9-CD58D1521843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271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0829A-126D-AF8B-4001-DD8B96504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6663D6E-F191-911E-BFBA-6A9F3BBD5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B1FF66-D4A2-C435-1505-108BCBB2B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Além de...</a:t>
            </a:r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ambientes isolados (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staging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produção)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com GitHub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automatizado para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staging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produção via aprovação manual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 de 99,5% de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uptime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mensal</a:t>
            </a:r>
          </a:p>
          <a:p>
            <a:pPr lv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Conformidade LGPD + direito de exclusão, exportação e consentimento</a:t>
            </a:r>
          </a:p>
          <a:p>
            <a:pPr lvl="0"/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Desafio // Impacto // Abordagem</a:t>
            </a: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Performance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(feed ≤ 2s, ação ≤ 200ms,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≤ 3s) // UX crítica // Otimizar queries, cache local, renderização incremental</a:t>
            </a:r>
          </a:p>
          <a:p>
            <a:r>
              <a:rPr lang="pt-B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Observabilidade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MVP reduzida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Serilog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Prometheus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adiado) // Diagnóstico em produção // Logs estruturados + alertas manuais; Fase 2 + dashboards</a:t>
            </a: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Teste de carga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(50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/s, validação com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NBomber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⚠️) // Escalabilidade // Executar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NBomber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CI a cada merge;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tuning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pool conexões</a:t>
            </a: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Cobertura de testes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(≥ 60% núcleo de domínio ⚠️) // Manutenibilidade // TDD (</a:t>
            </a:r>
            <a:r>
              <a:rPr lang="pt-BR" b="1" dirty="0"/>
              <a:t>Test-</a:t>
            </a:r>
            <a:r>
              <a:rPr lang="pt-BR" b="1" dirty="0" err="1"/>
              <a:t>Driven</a:t>
            </a:r>
            <a:r>
              <a:rPr lang="pt-BR" b="1" dirty="0"/>
              <a:t> </a:t>
            </a:r>
            <a:r>
              <a:rPr lang="pt-BR" b="1" dirty="0" err="1"/>
              <a:t>Development</a:t>
            </a:r>
            <a:r>
              <a:rPr lang="pt-BR" b="1" dirty="0"/>
              <a:t>)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domínio;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Coverlet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automatizados</a:t>
            </a: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Renderização </a:t>
            </a:r>
            <a:r>
              <a:rPr lang="pt-B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Markdown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pt-B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syntax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highlighting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//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Desempenho //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visualBenchmark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AvaloniaEdit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TextMateSharp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rendering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LGPD/Privacidade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(anonimização 30 dias, exportação ≤ 15 dias) // Conformidade legal //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Runbook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automático;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scheduler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limpeza; auditoria</a:t>
            </a: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MSIX + </a:t>
            </a:r>
            <a:r>
              <a:rPr lang="pt-B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sideload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//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Distribuição beta // Setup no CI com Windows SDK; testar em máquina limpa</a:t>
            </a:r>
          </a:p>
          <a:p>
            <a:pPr lvl="0"/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436DC07-5B18-5E57-E791-6273374C71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8DCDE-36FD-46BE-BAC9-CD58D1521843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4090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9EFE6-5F8F-6091-5D07-855A9A935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911EB1-373E-4C8D-58FD-EDB291256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4D4663-3C65-53CE-163E-5F27F39BD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55EDC-F69B-4B61-A020-EBF9952B2FDC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461BAF-6C21-1F1F-0E59-C3305FBE6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5E142A-83CB-CC2A-3934-097B4F932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BAC46-EA0B-4FFB-B4BA-6519281FAE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8474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C051E5-85A4-EF99-5090-95727370F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E1F5E2-E8A8-55D0-F910-B0D49239F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62130-70D1-0255-14C4-844F77E0C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55EDC-F69B-4B61-A020-EBF9952B2FDC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21F34E-254A-B705-6902-B8734A097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D16C8E-C813-BE62-7ECD-9DCA94518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BAC46-EA0B-4FFB-B4BA-6519281FAE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0840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09DA51-59E4-BCCD-E7D0-460A7EEBA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ABF331-3BF8-C759-1453-CD31F8E60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8F08B4-1CC0-34A6-2FB3-6FBC89964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55EDC-F69B-4B61-A020-EBF9952B2FDC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EED16B-D04D-053C-6372-DCF4994BE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ABE264-8635-7162-B5EF-3F9801D3A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BAC46-EA0B-4FFB-B4BA-6519281FAE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2897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94FBE-9FE3-D3CF-9995-B122B8D84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ABCA4C-F355-F36C-F3FE-2CCF25906F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A58F18B-6125-3056-1942-9FF8BFDEE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6F762A-CBAF-9B70-4CDC-C0BBB6470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55EDC-F69B-4B61-A020-EBF9952B2FDC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53C232E-2839-4F61-EC6F-20A09420A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1EB3A1-66AC-8A3B-5B13-2F1BCE29B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BAC46-EA0B-4FFB-B4BA-6519281FAE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2822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EA0915-BD1A-8D4A-2C6C-75E5EC858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81793E-18FB-9CA6-D074-C3D940900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1D1112C-5F90-2A47-04D1-56ECA41E5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F9C41AA-EEFD-32FA-6F75-AFA0627E4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5AE6B4-43CB-02A7-82F5-FF04A070C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BE55472-C3B2-CBE4-2DC2-873F7A925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55EDC-F69B-4B61-A020-EBF9952B2FDC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90AD07E-D1E3-7854-C2E4-D5D50078F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FABAB65-BB3F-CD18-E5D8-4BAC32953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BAC46-EA0B-4FFB-B4BA-6519281FAE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3831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1F6983-E4FE-9966-01ED-9022480A3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042CE06-E6E3-3EF5-2780-1FDF2E4A3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55EDC-F69B-4B61-A020-EBF9952B2FDC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AA59433-EA9E-5FEE-69C2-96E8C531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BDF1714-1975-C5B0-7D17-0F92962BC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BAC46-EA0B-4FFB-B4BA-6519281FAE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5664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0442287-B482-EB8C-A022-8FF08BDED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55EDC-F69B-4B61-A020-EBF9952B2FDC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DB2053-45E1-9A9D-E786-D22F9C845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BF8E28-5B87-7534-5787-AD2191EF7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BAC46-EA0B-4FFB-B4BA-6519281FAE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009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09469C-AC2E-B41B-986A-AB7CE626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D8084F-EC45-DABB-FA85-11478C789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CE57E17-9E9B-5129-FD8E-D7F490AB1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9722965-B362-335F-649C-186CA9A52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55EDC-F69B-4B61-A020-EBF9952B2FDC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11C1DFD-8299-6E51-DC0A-C5D6201CB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2BFAAA7-8206-7FA0-41BD-4C97214E9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BAC46-EA0B-4FFB-B4BA-6519281FAE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7497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66550B-5085-D816-B44C-A679CBFFF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69CA217-3E75-E471-B9D5-FBDAEFD409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3AA7D61-1626-EFE1-98ED-A7FA774BD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43FCFA-8996-6396-E175-3ABDE4572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55EDC-F69B-4B61-A020-EBF9952B2FDC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5395D9-8604-EFD6-A7D2-77410855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FB73EA-2CC7-4DF5-7817-352EFE17A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BAC46-EA0B-4FFB-B4BA-6519281FAE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6095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A54F9-3D5C-93FD-8D62-965C15703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8C21B3-BD52-CB7D-0A69-46F60D5B6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DBD12B-F65A-BD83-4FCE-37A2D483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55EDC-F69B-4B61-A020-EBF9952B2FDC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A6C469-B2D4-0710-4DE6-81E4C422C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63B64A-9EC2-F2CD-18A0-D8CB64A35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BAC46-EA0B-4FFB-B4BA-6519281FAE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3915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7F8899-46EC-7EA5-C135-6C6F90CEE7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5084C4-739B-AD65-FE5E-F42A0E458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ADA7B6-6BB6-8F84-7264-0565718E5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55EDC-F69B-4B61-A020-EBF9952B2FDC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A8203D-433D-D074-7224-0CBA73BD7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E35D97-6157-A409-9078-F9207BF81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BAC46-EA0B-4FFB-B4BA-6519281FAE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819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8BACA8F-675D-4C2E-04DF-45A989F63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E5E9B6-D184-9DAE-8F9D-7672A5C55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633E82-C2C5-9921-CC03-B71B7A953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D55EDC-F69B-4B61-A020-EBF9952B2FDC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149C24-0086-235A-778F-0A13F22C72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EDBC2D-2EA3-21CC-A217-37AE25996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BAC46-EA0B-4FFB-B4BA-6519281FAE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5686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18D3918-73A0-6B0F-6455-679863F63C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2255" y="0"/>
            <a:ext cx="12596509" cy="6870823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7E1A7DFF-01CA-F334-74C7-ADA7DE40F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22315" y="263830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pt-BR" b="1" dirty="0">
                <a:solidFill>
                  <a:srgbClr val="15283F"/>
                </a:solidFill>
                <a:latin typeface="Gill Sans MT" panose="020B0502020104020203" pitchFamily="34" charset="0"/>
              </a:rPr>
              <a:t>Garantia da Qualidade de Software</a:t>
            </a:r>
            <a:br>
              <a:rPr lang="pt-BR" b="1" dirty="0">
                <a:solidFill>
                  <a:srgbClr val="15283F"/>
                </a:solidFill>
                <a:latin typeface="Gill Sans MT" panose="020B0502020104020203" pitchFamily="34" charset="0"/>
              </a:rPr>
            </a:br>
            <a:r>
              <a:rPr lang="pt-BR" sz="1900" b="1" dirty="0" err="1">
                <a:solidFill>
                  <a:srgbClr val="15283F"/>
                </a:solidFill>
                <a:latin typeface="Gill Sans MT" panose="020B0502020104020203" pitchFamily="34" charset="0"/>
              </a:rPr>
              <a:t>Prof</a:t>
            </a:r>
            <a:r>
              <a:rPr lang="pt-BR" sz="1900" b="1" dirty="0">
                <a:solidFill>
                  <a:srgbClr val="15283F"/>
                </a:solidFill>
                <a:latin typeface="Gill Sans MT" panose="020B0502020104020203" pitchFamily="34" charset="0"/>
              </a:rPr>
              <a:t>: Daniel Henrique Matos de Paiva</a:t>
            </a:r>
          </a:p>
          <a:p>
            <a:r>
              <a:rPr lang="pt-BR" sz="1800" b="1" dirty="0">
                <a:solidFill>
                  <a:srgbClr val="15283F"/>
                </a:solidFill>
                <a:latin typeface="Gill Sans MT" panose="020B0502020104020203" pitchFamily="34" charset="0"/>
              </a:rPr>
              <a:t>Arthur Marques Diniz</a:t>
            </a:r>
            <a:br>
              <a:rPr lang="pt-BR" sz="1800" b="1" dirty="0">
                <a:solidFill>
                  <a:srgbClr val="15283F"/>
                </a:solidFill>
                <a:latin typeface="Gill Sans MT" panose="020B0502020104020203" pitchFamily="34" charset="0"/>
              </a:rPr>
            </a:br>
            <a:r>
              <a:rPr lang="pt-BR" sz="1800" b="1" dirty="0">
                <a:solidFill>
                  <a:srgbClr val="15283F"/>
                </a:solidFill>
                <a:latin typeface="Gill Sans MT" panose="020B0502020104020203" pitchFamily="34" charset="0"/>
              </a:rPr>
              <a:t>Bernardo Luiz Monteverde Gonçalves</a:t>
            </a:r>
            <a:br>
              <a:rPr lang="pt-BR" sz="1800" b="1" dirty="0">
                <a:solidFill>
                  <a:srgbClr val="15283F"/>
                </a:solidFill>
                <a:latin typeface="Gill Sans MT" panose="020B0502020104020203" pitchFamily="34" charset="0"/>
              </a:rPr>
            </a:br>
            <a:r>
              <a:rPr lang="pt-BR" sz="1800" b="1" dirty="0">
                <a:solidFill>
                  <a:srgbClr val="15283F"/>
                </a:solidFill>
                <a:latin typeface="Gill Sans MT" panose="020B0502020104020203" pitchFamily="34" charset="0"/>
              </a:rPr>
              <a:t>Luiz Filipe Pimenta Correa</a:t>
            </a:r>
            <a:br>
              <a:rPr lang="pt-BR" sz="1800" b="1" dirty="0">
                <a:solidFill>
                  <a:srgbClr val="15283F"/>
                </a:solidFill>
                <a:latin typeface="Gill Sans MT" panose="020B0502020104020203" pitchFamily="34" charset="0"/>
              </a:rPr>
            </a:br>
            <a:r>
              <a:rPr lang="pt-BR" sz="1800" b="1" dirty="0">
                <a:solidFill>
                  <a:srgbClr val="15283F"/>
                </a:solidFill>
                <a:latin typeface="Gill Sans MT" panose="020B0502020104020203" pitchFamily="34" charset="0"/>
              </a:rPr>
              <a:t>Patrick Oliveira Rabelo de Brito</a:t>
            </a:r>
          </a:p>
        </p:txBody>
      </p:sp>
    </p:spTree>
    <p:extLst>
      <p:ext uri="{BB962C8B-B14F-4D97-AF65-F5344CB8AC3E}">
        <p14:creationId xmlns:p14="http://schemas.microsoft.com/office/powerpoint/2010/main" val="4060143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75689BD-534E-D1DB-BB35-C28145FC7150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344F1F-E46C-BBD4-36DD-04634F6F7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e Escopo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46998B-8D7E-7ED2-1242-45A52AAEC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8" y="1954244"/>
            <a:ext cx="5355336" cy="679228"/>
          </a:xfrm>
        </p:spPr>
        <p:txBody>
          <a:bodyPr>
            <a:normAutofit/>
          </a:bodyPr>
          <a:lstStyle/>
          <a:p>
            <a:r>
              <a:rPr lang="pt-BR" dirty="0"/>
              <a:t>Falta de alternativas.</a:t>
            </a:r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5FC07B06-4E82-BECE-824B-07CE00B1865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4036057" y="2055813"/>
            <a:ext cx="8091935" cy="352301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777B11CB-4ECD-9C85-FCE1-B75B34CCA6C8}"/>
              </a:ext>
            </a:extLst>
          </p:cNvPr>
          <p:cNvSpPr txBox="1">
            <a:spLocks/>
          </p:cNvSpPr>
          <p:nvPr/>
        </p:nvSpPr>
        <p:spPr>
          <a:xfrm>
            <a:off x="201168" y="2631963"/>
            <a:ext cx="5355336" cy="679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Nicho crescente.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3A4D0613-EFC2-49B4-DFE1-779B5848FF18}"/>
              </a:ext>
            </a:extLst>
          </p:cNvPr>
          <p:cNvSpPr txBox="1">
            <a:spLocks/>
          </p:cNvSpPr>
          <p:nvPr/>
        </p:nvSpPr>
        <p:spPr>
          <a:xfrm>
            <a:off x="201168" y="3311191"/>
            <a:ext cx="5355336" cy="679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Feed algorítmico.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88A367BB-AE31-D22E-4B4A-24BBACDC788F}"/>
              </a:ext>
            </a:extLst>
          </p:cNvPr>
          <p:cNvSpPr txBox="1">
            <a:spLocks/>
          </p:cNvSpPr>
          <p:nvPr/>
        </p:nvSpPr>
        <p:spPr>
          <a:xfrm>
            <a:off x="201168" y="3988910"/>
            <a:ext cx="5355336" cy="679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Sem features dedicadas.</a:t>
            </a: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927CD8A-156C-711E-5C30-69D13A6FCA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010" t="24118" r="11699" b="24055"/>
          <a:stretch>
            <a:fillRect/>
          </a:stretch>
        </p:blipFill>
        <p:spPr>
          <a:xfrm>
            <a:off x="8781963" y="162000"/>
            <a:ext cx="3346029" cy="136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6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61164-4A1A-4A90-C138-3F9C86516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B42C0D3-A828-F040-1CAD-F3332F5735B4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E0104E2-B622-63F5-1F96-CBBF1216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Crítico do Usuário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5DA30F-C0B5-E1AE-D44B-1C2B6FEE5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48000" cy="4351338"/>
          </a:xfrm>
        </p:spPr>
        <p:txBody>
          <a:bodyPr/>
          <a:lstStyle/>
          <a:p>
            <a:r>
              <a:rPr lang="pt-BR" dirty="0"/>
              <a:t>Autenticação e Sessão</a:t>
            </a:r>
          </a:p>
          <a:p>
            <a:pPr lvl="0"/>
            <a:r>
              <a:rPr lang="pt-BR" dirty="0"/>
              <a:t>ADR-008 Segurança de Sessão (DPAPI).</a:t>
            </a:r>
            <a:r>
              <a:rPr lang="pt-BR" dirty="0" err="1"/>
              <a:t>md</a:t>
            </a:r>
            <a:r>
              <a:rPr lang="pt-BR" dirty="0"/>
              <a:t>)</a:t>
            </a:r>
          </a:p>
          <a:p>
            <a:pPr lvl="0"/>
            <a:r>
              <a:rPr lang="pt-BR" dirty="0"/>
              <a:t>ADR-005 API do Servidor</a:t>
            </a:r>
            <a:br>
              <a:rPr lang="pt-BR" dirty="0"/>
            </a:br>
            <a:endParaRPr lang="pt-BR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E99650A7-E8B8-3060-AC22-E6E87923A26C}"/>
              </a:ext>
            </a:extLst>
          </p:cNvPr>
          <p:cNvSpPr txBox="1">
            <a:spLocks/>
          </p:cNvSpPr>
          <p:nvPr/>
        </p:nvSpPr>
        <p:spPr>
          <a:xfrm>
            <a:off x="8305800" y="1825625"/>
            <a:ext cx="304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Conteúdo com </a:t>
            </a:r>
            <a:r>
              <a:rPr lang="pt-BR" dirty="0" err="1"/>
              <a:t>tags</a:t>
            </a:r>
            <a:r>
              <a:rPr lang="pt-BR" dirty="0"/>
              <a:t> e </a:t>
            </a:r>
            <a:r>
              <a:rPr lang="pt-BR" dirty="0" err="1"/>
              <a:t>markdown</a:t>
            </a:r>
            <a:endParaRPr lang="pt-BR" dirty="0"/>
          </a:p>
          <a:p>
            <a:pPr lvl="0"/>
            <a:r>
              <a:rPr lang="pt-BR" dirty="0"/>
              <a:t>RF-004</a:t>
            </a:r>
          </a:p>
          <a:p>
            <a:pPr lvl="0"/>
            <a:r>
              <a:rPr lang="pt-BR" dirty="0"/>
              <a:t>RF-022</a:t>
            </a:r>
          </a:p>
          <a:p>
            <a:pPr lvl="0"/>
            <a:r>
              <a:rPr lang="pt-BR" dirty="0"/>
              <a:t>RF-016</a:t>
            </a:r>
          </a:p>
          <a:p>
            <a:endParaRPr lang="pt-BR" dirty="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A7E8BF35-A105-D66F-C6F4-B837670C9185}"/>
              </a:ext>
            </a:extLst>
          </p:cNvPr>
          <p:cNvSpPr txBox="1">
            <a:spLocks/>
          </p:cNvSpPr>
          <p:nvPr/>
        </p:nvSpPr>
        <p:spPr>
          <a:xfrm>
            <a:off x="4572000" y="1825625"/>
            <a:ext cx="304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Feed cronológico e performance</a:t>
            </a:r>
          </a:p>
          <a:p>
            <a:r>
              <a:rPr lang="pt-BR" dirty="0"/>
              <a:t>RNF-01</a:t>
            </a:r>
          </a:p>
          <a:p>
            <a:pPr lvl="0"/>
            <a:r>
              <a:rPr lang="pt-BR" dirty="0"/>
              <a:t>UC-05</a:t>
            </a:r>
          </a:p>
          <a:p>
            <a:pPr lvl="0"/>
            <a:r>
              <a:rPr lang="pt-BR" dirty="0"/>
              <a:t>ADR-001 Stack Tecnológica</a:t>
            </a:r>
          </a:p>
          <a:p>
            <a:endParaRPr lang="pt-BR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ED5B7C8E-561F-331D-23B0-95D3EF4D21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010" t="24118" r="11699" b="24055"/>
          <a:stretch>
            <a:fillRect/>
          </a:stretch>
        </p:blipFill>
        <p:spPr>
          <a:xfrm>
            <a:off x="8781963" y="162000"/>
            <a:ext cx="3346029" cy="136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9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81EE9-C568-9B44-FE0B-EF1AE3F8B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3BB5757-A6F8-AA53-5A17-BC6B177F87B3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60EB67-392D-F93D-4D88-1A28AEF94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RNFs</a:t>
            </a:r>
            <a:r>
              <a:rPr lang="pt-BR" dirty="0"/>
              <a:t> e Metas de Qualidade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2625E4-2653-D618-56D4-CBD73B8CC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96824" cy="4351338"/>
          </a:xfrm>
        </p:spPr>
        <p:txBody>
          <a:bodyPr>
            <a:normAutofit/>
          </a:bodyPr>
          <a:lstStyle/>
          <a:p>
            <a:pPr lvl="0"/>
            <a:r>
              <a:rPr lang="pt-BR" dirty="0"/>
              <a:t>Performance</a:t>
            </a:r>
          </a:p>
          <a:p>
            <a:pPr lvl="0"/>
            <a:r>
              <a:rPr lang="pt-BR" dirty="0"/>
              <a:t>Segurança</a:t>
            </a:r>
          </a:p>
          <a:p>
            <a:pPr lvl="0"/>
            <a:r>
              <a:rPr lang="pt-BR" dirty="0"/>
              <a:t>Privacidade / conformidade</a:t>
            </a:r>
          </a:p>
          <a:p>
            <a:pPr lvl="0"/>
            <a:r>
              <a:rPr lang="pt-BR" dirty="0"/>
              <a:t>Usabilidade / acessibilidade</a:t>
            </a:r>
          </a:p>
          <a:p>
            <a:pPr lvl="0"/>
            <a:r>
              <a:rPr lang="pt-BR" dirty="0"/>
              <a:t>Portabilidade / compatibilidade</a:t>
            </a:r>
          </a:p>
          <a:p>
            <a:pPr lvl="0"/>
            <a:r>
              <a:rPr lang="pt-BR" dirty="0"/>
              <a:t>Manutenibilidade / qualidade</a:t>
            </a:r>
          </a:p>
          <a:p>
            <a:pPr lvl="0"/>
            <a:r>
              <a:rPr lang="pt-BR" dirty="0"/>
              <a:t>Confiabilidade / operação</a:t>
            </a:r>
            <a:br>
              <a:rPr lang="pt-BR" dirty="0"/>
            </a:br>
            <a:endParaRPr lang="pt-BR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CD46D45C-5346-AFE8-9B33-455BA6A2D1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010" t="24118" r="11699" b="24055"/>
          <a:stretch>
            <a:fillRect/>
          </a:stretch>
        </p:blipFill>
        <p:spPr>
          <a:xfrm>
            <a:off x="8781963" y="162000"/>
            <a:ext cx="3346029" cy="136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01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C7F73-C364-231E-38AE-FF36968C7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6E327C1-949E-2849-B7FD-2FAC3F7E2572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647F69-B43C-C776-7720-435B4EBDA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DER</a:t>
            </a:r>
          </a:p>
        </p:txBody>
      </p:sp>
      <p:pic>
        <p:nvPicPr>
          <p:cNvPr id="7" name="Picture">
            <a:extLst>
              <a:ext uri="{FF2B5EF4-FFF2-40B4-BE49-F238E27FC236}">
                <a16:creationId xmlns:a16="http://schemas.microsoft.com/office/drawing/2014/main" id="{AC47B72E-06EB-1113-CDAC-795F25FCAE4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405481" y="1522865"/>
            <a:ext cx="11381037" cy="50889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05E2EAB3-CDD6-0090-34DD-38D6BA8C2E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010" t="24118" r="11699" b="24055"/>
          <a:stretch>
            <a:fillRect/>
          </a:stretch>
        </p:blipFill>
        <p:spPr>
          <a:xfrm>
            <a:off x="8781963" y="162000"/>
            <a:ext cx="3346029" cy="136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78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F1009-5E7C-135D-5F04-1F2337543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5EE2718-07C5-1587-AE4A-552EF517E084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70C4D4-8C86-D846-5238-51377229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Domínio e Diagrama de Classes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04BC2F3-86C4-E626-3EDC-3FB952D709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010" t="24118" r="11699" b="24055"/>
          <a:stretch>
            <a:fillRect/>
          </a:stretch>
        </p:blipFill>
        <p:spPr>
          <a:xfrm>
            <a:off x="8781963" y="162000"/>
            <a:ext cx="3346029" cy="1366688"/>
          </a:xfrm>
          <a:prstGeom prst="rect">
            <a:avLst/>
          </a:prstGeom>
        </p:spPr>
      </p:pic>
      <p:pic>
        <p:nvPicPr>
          <p:cNvPr id="9" name="Picture">
            <a:extLst>
              <a:ext uri="{FF2B5EF4-FFF2-40B4-BE49-F238E27FC236}">
                <a16:creationId xmlns:a16="http://schemas.microsoft.com/office/drawing/2014/main" id="{56C7D3B2-4659-CE1A-C7BE-B5E2DCA6EE4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437951" y="2143481"/>
            <a:ext cx="8190220" cy="217723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D437C9A1-58E8-7ED7-E1CF-394FB940AF86}"/>
              </a:ext>
            </a:extLst>
          </p:cNvPr>
          <p:cNvSpPr txBox="1"/>
          <p:nvPr/>
        </p:nvSpPr>
        <p:spPr>
          <a:xfrm>
            <a:off x="1157884" y="5595937"/>
            <a:ext cx="9876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https://agora-s-space.github.io/Social.Quartz/02-modelagem/modelo-de-dom%C3%ADnio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8A4A8747-0E95-AC02-7197-CE43901349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6150" y="2143481"/>
            <a:ext cx="2857899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143D5-50B4-3098-876B-CF55218C4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9841CC3-F7DA-8716-DF98-D16C021A1A9D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B89D2C-743E-FF25-BFE6-2B054F907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Pipeline e Desenvolvimento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F5C3058-ACC3-C8DB-01B1-66D80D0D3F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010" t="24118" r="11699" b="24055"/>
          <a:stretch>
            <a:fillRect/>
          </a:stretch>
        </p:blipFill>
        <p:spPr>
          <a:xfrm>
            <a:off x="8781963" y="162000"/>
            <a:ext cx="3346029" cy="136668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FCD242E-6A8F-418B-B63D-49214F05D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3350" y="2335737"/>
            <a:ext cx="7410450" cy="3639620"/>
          </a:xfrm>
          <a:prstGeom prst="rect">
            <a:avLst/>
          </a:prstGeom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56CABA7E-39E1-79C9-EC8D-83972CEFE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" y="1979878"/>
            <a:ext cx="3048000" cy="4351338"/>
          </a:xfrm>
        </p:spPr>
        <p:txBody>
          <a:bodyPr/>
          <a:lstStyle/>
          <a:p>
            <a:r>
              <a:rPr lang="pt-BR" dirty="0"/>
              <a:t>PR Review</a:t>
            </a:r>
          </a:p>
          <a:p>
            <a:pPr lvl="0"/>
            <a:r>
              <a:rPr lang="pt-BR" dirty="0" err="1"/>
              <a:t>Branches</a:t>
            </a:r>
            <a:r>
              <a:rPr lang="pt-BR" dirty="0"/>
              <a:t> curtas</a:t>
            </a:r>
          </a:p>
          <a:p>
            <a:pPr lvl="0"/>
            <a:r>
              <a:rPr lang="pt-BR" dirty="0"/>
              <a:t>Github </a:t>
            </a:r>
            <a:r>
              <a:rPr lang="pt-BR" dirty="0" err="1"/>
              <a:t>Actions</a:t>
            </a:r>
            <a:endParaRPr lang="pt-BR" dirty="0"/>
          </a:p>
          <a:p>
            <a:pPr lvl="0"/>
            <a:r>
              <a:rPr lang="pt-BR" dirty="0"/>
              <a:t>Docker </a:t>
            </a:r>
            <a:r>
              <a:rPr lang="pt-BR" dirty="0" err="1"/>
              <a:t>Compose</a:t>
            </a:r>
            <a:endParaRPr lang="pt-BR" dirty="0"/>
          </a:p>
          <a:p>
            <a:pPr lvl="0"/>
            <a:r>
              <a:rPr lang="pt-BR" dirty="0"/>
              <a:t>EF Core </a:t>
            </a:r>
            <a:r>
              <a:rPr lang="pt-BR" dirty="0" err="1"/>
              <a:t>Migrations</a:t>
            </a:r>
            <a:endParaRPr lang="pt-BR" dirty="0"/>
          </a:p>
          <a:p>
            <a:pPr lvl="0"/>
            <a:r>
              <a:rPr lang="pt-BR" dirty="0"/>
              <a:t>Health </a:t>
            </a:r>
            <a:r>
              <a:rPr lang="pt-BR" dirty="0" err="1"/>
              <a:t>Checks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613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2A136-3122-7BC1-9623-9EA01D1B1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20E1BC6-3CF8-11DA-3148-6A3D502B3E4B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1D9CDE-FA13-4272-E336-423F98A54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Testes Automatizados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5A9C34E-6EA9-A754-6CE7-F1FEF74F5F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010" t="24118" r="11699" b="24055"/>
          <a:stretch>
            <a:fillRect/>
          </a:stretch>
        </p:blipFill>
        <p:spPr>
          <a:xfrm>
            <a:off x="8781963" y="162000"/>
            <a:ext cx="3346029" cy="1366688"/>
          </a:xfrm>
          <a:prstGeom prst="rect">
            <a:avLst/>
          </a:prstGeom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2EE6DB94-0BA8-8E35-69F6-DA06AFF46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87" y="2055813"/>
            <a:ext cx="10868025" cy="4351338"/>
          </a:xfrm>
        </p:spPr>
        <p:txBody>
          <a:bodyPr/>
          <a:lstStyle/>
          <a:p>
            <a:pPr lvl="0"/>
            <a:r>
              <a:rPr lang="pt-BR" dirty="0"/>
              <a:t>Unidade + integração + UI</a:t>
            </a:r>
          </a:p>
          <a:p>
            <a:pPr lvl="0"/>
            <a:r>
              <a:rPr lang="pt-BR" dirty="0"/>
              <a:t>Pipeline automatizado no GitHub </a:t>
            </a:r>
            <a:r>
              <a:rPr lang="pt-BR" dirty="0" err="1"/>
              <a:t>Actions</a:t>
            </a:r>
            <a:endParaRPr lang="pt-BR" dirty="0"/>
          </a:p>
          <a:p>
            <a:pPr lvl="0"/>
            <a:r>
              <a:rPr lang="pt-BR" dirty="0"/>
              <a:t>Validação de segurança e autenticação</a:t>
            </a:r>
          </a:p>
          <a:p>
            <a:pPr lvl="0"/>
            <a:r>
              <a:rPr lang="pt-BR" dirty="0"/>
              <a:t>Testes de desempenho em fluxos críticos</a:t>
            </a:r>
          </a:p>
          <a:p>
            <a:pPr lvl="0"/>
            <a:r>
              <a:rPr lang="pt-BR" dirty="0"/>
              <a:t>Health </a:t>
            </a:r>
            <a:r>
              <a:rPr lang="pt-BR" dirty="0" err="1"/>
              <a:t>checks</a:t>
            </a:r>
            <a:r>
              <a:rPr lang="pt-BR" dirty="0"/>
              <a:t>, logs e </a:t>
            </a:r>
            <a:r>
              <a:rPr lang="pt-BR" dirty="0" err="1"/>
              <a:t>observabilidade</a:t>
            </a:r>
            <a:r>
              <a:rPr lang="pt-BR" dirty="0"/>
              <a:t> mínima</a:t>
            </a:r>
          </a:p>
          <a:p>
            <a:pPr lvl="0"/>
            <a:r>
              <a:rPr lang="pt-BR" dirty="0"/>
              <a:t>Critério: confiabilidade, estabilidade e baixo risco de regressão</a:t>
            </a:r>
          </a:p>
        </p:txBody>
      </p:sp>
    </p:spTree>
    <p:extLst>
      <p:ext uri="{BB962C8B-B14F-4D97-AF65-F5344CB8AC3E}">
        <p14:creationId xmlns:p14="http://schemas.microsoft.com/office/powerpoint/2010/main" val="587389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6A64A-FBC6-0F3A-1C97-B5623B479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28EAFE6-DD4B-2CC9-74BE-2E5F6DA0589C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16FA10-809F-18B2-93A9-D1C1AE674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593607E-0DB6-3768-C53D-C0C350A95C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010" t="24118" r="11699" b="24055"/>
          <a:stretch>
            <a:fillRect/>
          </a:stretch>
        </p:blipFill>
        <p:spPr>
          <a:xfrm>
            <a:off x="8781963" y="162000"/>
            <a:ext cx="3346029" cy="1366688"/>
          </a:xfrm>
          <a:prstGeom prst="rect">
            <a:avLst/>
          </a:prstGeom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6F4C3D68-34C9-CE8B-FD61-1B17DDD10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87" y="2055813"/>
            <a:ext cx="10868025" cy="4351338"/>
          </a:xfrm>
        </p:spPr>
        <p:txBody>
          <a:bodyPr/>
          <a:lstStyle/>
          <a:p>
            <a:pPr lvl="0"/>
            <a:r>
              <a:rPr lang="pt-BR" dirty="0"/>
              <a:t>19 requisitos funcionais claramente mapeados</a:t>
            </a:r>
          </a:p>
          <a:p>
            <a:pPr lvl="0"/>
            <a:r>
              <a:rPr lang="pt-BR" dirty="0"/>
              <a:t>26 requisitos não funcionais com metas mensuráveis (ISO/IEC 25010)</a:t>
            </a:r>
          </a:p>
          <a:p>
            <a:pPr lvl="0"/>
            <a:r>
              <a:rPr lang="pt-BR" dirty="0"/>
              <a:t>12 regras de negócio e 4 regras de privacidade (LGPD)</a:t>
            </a:r>
          </a:p>
          <a:p>
            <a:pPr lvl="0"/>
            <a:r>
              <a:rPr lang="pt-BR" dirty="0"/>
              <a:t>Stack tecnológica decidida e justificada em ADRs</a:t>
            </a:r>
          </a:p>
          <a:p>
            <a:pPr lvl="0"/>
            <a:r>
              <a:rPr lang="pt-BR" dirty="0"/>
              <a:t>Arquitetura em 4 camadas com testes de conformidade</a:t>
            </a:r>
          </a:p>
          <a:p>
            <a:pPr lvl="0"/>
            <a:r>
              <a:rPr lang="pt-BR" dirty="0"/>
              <a:t>Critério de aceitação para beta interno com 20 usuários</a:t>
            </a:r>
          </a:p>
        </p:txBody>
      </p:sp>
    </p:spTree>
    <p:extLst>
      <p:ext uri="{BB962C8B-B14F-4D97-AF65-F5344CB8AC3E}">
        <p14:creationId xmlns:p14="http://schemas.microsoft.com/office/powerpoint/2010/main" val="2115341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1509</Words>
  <Application>Microsoft Office PowerPoint</Application>
  <PresentationFormat>Widescreen</PresentationFormat>
  <Paragraphs>181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Gill Sans MT</vt:lpstr>
      <vt:lpstr>Tema do Office</vt:lpstr>
      <vt:lpstr>Apresentação do PowerPoint</vt:lpstr>
      <vt:lpstr>Problema e Escopo</vt:lpstr>
      <vt:lpstr>Fluxo Crítico do Usuário</vt:lpstr>
      <vt:lpstr>RNFs e Metas de Qualidade</vt:lpstr>
      <vt:lpstr>DER</vt:lpstr>
      <vt:lpstr>Domínio e Diagrama de Classes</vt:lpstr>
      <vt:lpstr>Pipeline e Desenvolvimento</vt:lpstr>
      <vt:lpstr>Testes Automatizados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Oliveira Rabelo de Brito</dc:creator>
  <cp:lastModifiedBy>Patrick Oliveira Rabelo de Brito</cp:lastModifiedBy>
  <cp:revision>4</cp:revision>
  <dcterms:created xsi:type="dcterms:W3CDTF">2026-08-30T12:44:57Z</dcterms:created>
  <dcterms:modified xsi:type="dcterms:W3CDTF">2026-08-31T01:52:15Z</dcterms:modified>
</cp:coreProperties>
</file>